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Diabetes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Diabetes</c:v>
                </c:pt>
                <c:pt idx="1">
                  <c:v>Diabetes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91.5</c:v>
                </c:pt>
                <c:pt idx="1">
                  <c:v>8.5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blood_glucose_level</c:v>
                  </c:pt>
                  <c:pt idx="1">
                    <c:v>HbA1c_level</c:v>
                  </c:pt>
                  <c:pt idx="2">
                    <c:v>age</c:v>
                  </c:pt>
                  <c:pt idx="3">
                    <c:v>bmi</c:v>
                  </c:pt>
                  <c:pt idx="4">
                    <c:v>hypertension</c:v>
                  </c:pt>
                  <c:pt idx="5">
                    <c:v>heart_disease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0.42</c:v>
                </c:pt>
                <c:pt idx="1">
                  <c:v>0.41</c:v>
                </c:pt>
                <c:pt idx="2">
                  <c:v>0.26</c:v>
                </c:pt>
                <c:pt idx="3">
                  <c:v>0.21</c:v>
                </c:pt>
                <c:pt idx="4">
                  <c:v>0.2</c:v>
                </c:pt>
                <c:pt idx="5">
                  <c:v>0.17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1B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b"/>
        <c:majorGridlines>
          <c:spPr>
            <a:ln w="9525" cap="flat">
              <a:solidFill>
                <a:srgbClr val="DC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Logistic Regression</c:v>
                  </c:pt>
                  <c:pt idx="2">
                    <c:v>KNN</c:v>
                  </c:pt>
                  <c:pt idx="3">
                    <c:v>Decision Tree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96.92</c:v>
                </c:pt>
                <c:pt idx="1">
                  <c:v>95.96</c:v>
                </c:pt>
                <c:pt idx="2">
                  <c:v>95.93</c:v>
                </c:pt>
                <c:pt idx="3">
                  <c:v>94.79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b"/>
        <c:majorGridlines>
          <c:spPr>
            <a:ln w="9525" cap="flat">
              <a:solidFill>
                <a:srgbClr val="DCE3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B3D65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B3D6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MACHINE LEARNING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Prediction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Classification Models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033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likelihood of diabetes from patient health and demographic data, using a comparison of four classification algorithms.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Mohammed Dahi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60167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Data Analysis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machine-learning system that predicts whether a person has diabetes, based on health and demographic information. Several classification algorithms are trained, compared, and the best-performing model is selected using test accuracy and supporting metrics.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943600" cy="2880360"/>
          </a:xfrm>
          <a:prstGeom prst="roundRect">
            <a:avLst>
              <a:gd name="adj" fmla="val 3810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383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3364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AI-based classification system that predicts diabetes using patient-related features such as age, BMI, blood glucose level, HbA1c level, hypertension, heart disease, and smoking history.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48006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15361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86600" y="181965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2532888"/>
            <a:ext cx="48006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651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86600" y="29352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 Diabetes   ·   1 = Diabetes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0" y="3648456"/>
            <a:ext cx="48006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37673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86600" y="40507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Diabetes Prediction Dataset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4764024"/>
            <a:ext cx="48006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488289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86600" y="5166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 /  20% Test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Using Machine Learning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832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(8 features + target)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1206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546811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clean; duplicate rows removed during preprocessing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508760"/>
          <a:ext cx="7543800" cy="470916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3886200"/>
              </a:tblGrid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 / 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age in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No, 1 =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heart_disease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No, 1 =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smoking_history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Never, current, former, no info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HbA1c_level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blood sugar, 2–3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blood_glucose_level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glucose at time of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—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 Diabetes, 1 = Diabetes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Using Machine Learning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4568" y="1801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173736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1801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328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06840" y="173736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31927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43400" y="3182112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4568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331927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138160" y="3182112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06840" y="331927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764024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965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17320" y="4901184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343400" y="4764024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4568" y="4965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44568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12080" y="4901184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138160" y="4764024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9328" y="4965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339328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006840" y="4901184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Selection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Using Machine Learning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inspected and prepared before training, following a consistent pipeline applied identically to every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8FC"/>
          </a:solidFill>
          <a:ln w="15875">
            <a:solidFill>
              <a:srgbClr val="DC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27685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across all 100,000 records.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205740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8FC"/>
          </a:solidFill>
          <a:ln w="15875">
            <a:solidFill>
              <a:srgbClr val="DC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6168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27685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&amp; removed duplicates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dropped to avoid data leakage.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205740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8FC"/>
          </a:solidFill>
          <a:ln w="15875">
            <a:solidFill>
              <a:srgbClr val="DC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97356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227685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invalid values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ranges of numeric fields for outliers/errors.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41648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8FC"/>
          </a:solidFill>
          <a:ln w="15875">
            <a:solidFill>
              <a:srgbClr val="DCE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224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2611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features &amp; target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09320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isolated from the diabetes label.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60520" y="4041648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8FC"/>
          </a:solidFill>
          <a:ln w="15875">
            <a:solidFill>
              <a:srgbClr val="DCE3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1688" y="4224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361688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42611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numerical features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509320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continuous variables (age, BMI, HbA1c, glucose).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0" y="4041648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8FC"/>
          </a:solidFill>
          <a:ln w="15875">
            <a:solidFill>
              <a:srgbClr val="DCE3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73568" y="4224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973568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0" y="42611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categorical features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01000" y="5093208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gender and smoking_history.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Using Machine Learning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Balance &amp; Correlation with Diabetes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 Distribution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463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cases are a minority class (~8–9% of records) — accuracy alone can be misleading here.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6072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Diabetes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669280" y="1828800"/>
          <a:ext cx="5989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Using Machine Learning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Patterns by Diabetes Status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of the four strongest predictors show a clear separation between patients with and without diabetes.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75234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4261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169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skew markedly older, with a higher median.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6484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387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81304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and more spread-out BMI values among diabetic patients.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544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348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Level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Sharpest separation of all features — a strong predictive signal.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30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Glucose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6052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elevated and more variable in diabetic patients.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0" descr="/mnt/user-data/uploads/Screenshot_From_2026-09-07_16-15-4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09560" y="320040"/>
            <a:ext cx="3310128" cy="6217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Using Machine Learning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Classification Algorithms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was trained on the same 80/20 split and evaluated with identical metrics.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3317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33756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406908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interpretable linear baseline for binary classification.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96596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0248" y="23317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70248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33756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57016" y="406908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tree-based model that predicts using a sequence of decision rules.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196596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7077456" y="23317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7077456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7648" y="333756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64224" y="406908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 that votes for a more robust prediction.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27648" y="553212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MODEL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0264" y="196596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84664" y="23317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9884664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34856" y="333756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171432" y="406908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patient based on the most similar training records.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Using Machine Learning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86200" cy="4846320"/>
          </a:xfrm>
          <a:prstGeom prst="roundRect">
            <a:avLst>
              <a:gd name="adj" fmla="val 3294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7830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01000" y="21031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01000" y="28803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96.92%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001000" y="37490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01000" y="4343400"/>
            <a:ext cx="3200400" cy="0"/>
          </a:xfrm>
          <a:prstGeom prst="line">
            <a:avLst/>
          </a:prstGeom>
          <a:noFill/>
          <a:ln w="12700">
            <a:solidFill>
              <a:srgbClr val="3A4A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452628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outperformed the other three algorithms by combining many decision trees, giving it the strongest balance of accuracy and stability on unseen test data.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Using Machine Learning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Detailed Evaluation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Set, n = 19,230)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1901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0876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Diabetes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8892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 rot="16200000">
            <a:off x="731520" y="34290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Diabetes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08760" y="2286000"/>
            <a:ext cx="1225296" cy="1225296"/>
          </a:xfrm>
          <a:prstGeom prst="roundRect">
            <a:avLst>
              <a:gd name="adj" fmla="val 4478"/>
            </a:avLst>
          </a:prstGeom>
          <a:solidFill>
            <a:srgbClr val="1E2761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286000"/>
            <a:ext cx="1225296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17,472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88920" y="2286000"/>
            <a:ext cx="1225296" cy="1225296"/>
          </a:xfrm>
          <a:prstGeom prst="roundRect">
            <a:avLst>
              <a:gd name="adj" fmla="val 4478"/>
            </a:avLst>
          </a:prstGeom>
          <a:solidFill>
            <a:srgbClr val="EDEFF6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286000"/>
            <a:ext cx="1225296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508760" y="3566160"/>
            <a:ext cx="1225296" cy="1225296"/>
          </a:xfrm>
          <a:prstGeom prst="roundRect">
            <a:avLst>
              <a:gd name="adj" fmla="val 4478"/>
            </a:avLst>
          </a:prstGeom>
          <a:solidFill>
            <a:srgbClr val="EDEFF6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566160"/>
            <a:ext cx="1225296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88920" y="3566160"/>
            <a:ext cx="1225296" cy="1225296"/>
          </a:xfrm>
          <a:prstGeom prst="roundRect">
            <a:avLst>
              <a:gd name="adj" fmla="val 4478"/>
            </a:avLst>
          </a:prstGeom>
          <a:solidFill>
            <a:srgbClr val="1E2761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566160"/>
            <a:ext cx="1225296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1,166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62 false alarms and 530 missed cases out of 19,230 patients.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5349240" cy="1691640"/>
        </p:xfrm>
        <a:graphic>
          <a:graphicData uri="http://schemas.openxmlformats.org/drawingml/2006/table">
            <a:tbl>
              <a:tblPr/>
              <a:tblGrid>
                <a:gridCol w="1965960"/>
                <a:gridCol w="1124712"/>
                <a:gridCol w="1124712"/>
                <a:gridCol w="113385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Diabetes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309360" y="379476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37960" y="395020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37960" y="4315968"/>
            <a:ext cx="4892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excellent at ruling out diabetes (100% recall on the majority class) and correctly identifies 69% of actual diabetes cases (recall = 0.69), with 95% precision when it does flag diabetes. The lower recall on the minority class reflects the class imbalance in the dataset (~91.5% vs ~8.5%) and is a natural target for future improvement.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Using Machine Learning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Future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23113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glucose level and HbA1c level are the strongest predictors of diabetes.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2004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14553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BMI show a clear, meaningful relationship with diabetes risk.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1148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05993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and heart disease add useful, if smaller, predictive signal.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0292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029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97433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(Random Forest) outperform single models on this data.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9659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205740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2560" y="19659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205740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2004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29184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ML algorithms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52560" y="32004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17152" y="329184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44348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452628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(precision/recall focus)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52560" y="44348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6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452628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application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Using Machine Learning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B3D6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Reliable Foundation for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Risk Prediction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models trained and evaluated on 100,000 patient records, Random Forest delivered the strongest and most balanced performance — 96.92% test accuracy — driven primarily by blood glucose level, HbA1c level, age, and BMI.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developed for educational and machine-learning practice purposes only. Not a medical diagnostic tool.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Dahi  ·  Machine Learning &amp; Data Analysis Project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2026-09-07T19:16:16Z</dcterms:created>
  <dcterms:modified xsi:type="dcterms:W3CDTF">2026-09-07T19:16:16Z</dcterms:modified>
</cp:coreProperties>
</file>